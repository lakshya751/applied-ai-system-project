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91695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PawPal+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0" i="0">
                <a:solidFill>
                  <a:srgbClr val="C9D6E6"/>
                </a:solidFill>
                <a:latin typeface="Calibri"/>
              </a:defRPr>
            </a:pPr>
            <a:r>
              <a:t>A grounded, self-checking pet-care planning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 i="0">
                <a:solidFill>
                  <a:srgbClr val="0E7C86"/>
                </a:solidFill>
                <a:latin typeface="Calibri"/>
              </a:defRPr>
            </a:pPr>
            <a:r>
              <a:t>RAG  ·  agentic validate-and-repair loop  ·  evaluation harness</a:t>
            </a:r>
          </a:p>
          <a:p>
            <a:pPr algn="l">
              <a:spcAft>
                <a:spcPts val="0"/>
              </a:spcAft>
              <a:defRPr sz="1400" b="0" i="0">
                <a:solidFill>
                  <a:srgbClr val="8E9EB5"/>
                </a:solidFill>
                <a:latin typeface="Calibri"/>
              </a:defRPr>
            </a:pPr>
            <a:r>
              <a:t>Applied AI System — Module 4   |   Lakshya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Where this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The Modules 1–3 project this evolves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0E7C86"/>
                </a:solidFill>
                <a:latin typeface="Calibri"/>
              </a:defRPr>
            </a:pPr>
            <a:r>
              <a:t>PawPal+ (Modules 1–3)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5A667A"/>
                </a:solidFill>
                <a:latin typeface="Calibri"/>
              </a:defRPr>
            </a:pPr>
            <a:r>
              <a:t>A Streamlit pet-care planner built on four classes:</a:t>
            </a:r>
          </a:p>
          <a:p>
            <a:pPr algn="l">
              <a:spcAft>
                <a:spcPts val="1400"/>
              </a:spcAft>
              <a:defRPr sz="1500" b="0" i="0">
                <a:solidFill>
                  <a:srgbClr val="5A667A"/>
                </a:solidFill>
                <a:latin typeface="Calibri"/>
              </a:defRPr>
            </a:pPr>
            <a:r>
              <a:t>Owner → Pet → Task, with a Scheduler holding all cross-pet logic.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Add pets and schedule care tasks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View the day sorted chronologically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Filter by pet and by completion status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Daily / weekly recurrence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Warn when two tasks share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C25A1E"/>
                </a:solidFill>
                <a:latin typeface="Calibri"/>
              </a:defRPr>
            </a:pPr>
            <a:r>
              <a:t>It was entirely deterministic</a:t>
            </a:r>
          </a:p>
          <a:p>
            <a:pPr algn="l">
              <a:spcAft>
                <a:spcPts val="1600"/>
              </a:spcAft>
              <a:defRPr sz="1500" b="0" i="0">
                <a:solidFill>
                  <a:srgbClr val="5A667A"/>
                </a:solidFill>
                <a:latin typeface="Calibri"/>
              </a:defRPr>
            </a:pPr>
            <a:r>
              <a:t>Every behaviour was a rule I wrote by hand. The user had to know what to schedule, and when.</a:t>
            </a:r>
          </a:p>
          <a:p>
            <a:pPr algn="l">
              <a:spcAft>
                <a:spcPts val="800"/>
              </a:spcAft>
              <a:defRPr sz="1700" b="1" i="0">
                <a:solidFill>
                  <a:srgbClr val="141B2E"/>
                </a:solidFill>
                <a:latin typeface="Calibri"/>
              </a:defRPr>
            </a:pPr>
            <a:r>
              <a:t>The gap</a:t>
            </a:r>
          </a:p>
          <a:p>
            <a:pPr algn="l">
              <a:spcAft>
                <a:spcPts val="600"/>
              </a:spcAft>
              <a:defRPr sz="1500" b="0" i="0">
                <a:solidFill>
                  <a:srgbClr val="5A667A"/>
                </a:solidFill>
                <a:latin typeface="Calibri"/>
              </a:defRPr>
            </a:pPr>
            <a:r>
              <a:t>A real owner doesn't think in tasks and times. They think:</a:t>
            </a:r>
          </a:p>
          <a:p>
            <a:pPr algn="l">
              <a:spcAft>
                <a:spcPts val="1400"/>
              </a:spcAft>
              <a:defRPr sz="1600" b="0" i="1">
                <a:solidFill>
                  <a:srgbClr val="141B2E"/>
                </a:solidFill>
                <a:latin typeface="Calibri"/>
              </a:defRPr>
            </a:pPr>
            <a:r>
              <a:t>“He's a 9-month-old puppy and I work 9 to 5 — what should I actually do?”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5A667A"/>
                </a:solidFill>
                <a:latin typeface="Calibri"/>
              </a:defRPr>
            </a:pPr>
            <a:r>
              <a:t>Answering that needs knowledge the app never had.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989320"/>
            <a:ext cx="10607040" cy="566928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B2E"/>
                </a:solidFill>
                <a:latin typeface="Calibri"/>
              </a:defRPr>
            </a:pPr>
            <a:r>
              <a:t>pawpal_system.py is UNCHANGED — the AI layer sits on top and feeds it validated Task objects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What Module 4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Three AI capabilities, fully integrated — not bolted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37560" cy="566928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Retrieval (RAG)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5-document pet-care corpus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31 retrievable passages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TF-IDF + stemming, no vector DB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Refuses out-of-domain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83080"/>
            <a:ext cx="3337560" cy="566928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Agentic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514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Model drafts a plan as JSON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Validator checks it against reality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Errors fed back for repair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Bounded retries, then 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83080"/>
            <a:ext cx="3337560" cy="566928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514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62 automated tests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25-case evaluation harness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Confidence scoring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Auditable run traces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834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141B2E"/>
                </a:solidFill>
                <a:latin typeface="Calibri"/>
              </a:defRPr>
            </a:pPr>
            <a:r>
              <a:t>The design idea holding it together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A667A"/>
                </a:solidFill>
                <a:latin typeface="Calibri"/>
              </a:defRPr>
            </a:pPr>
            <a:r>
              <a:t>Model output is treated as untrusted input. Every plan must survive a validator before a human is even shown the Approve button — and the AI never writes to the schedule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Retrieve → plan → validate → repair → propose, then a human decides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103120" cy="77724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RETRIEVE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148840"/>
            <a:ext cx="2103120" cy="777240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2148840"/>
            <a:ext cx="210312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VALIDATE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148840"/>
            <a:ext cx="2103120" cy="777240"/>
          </a:xfrm>
          <a:prstGeom prst="roundRect">
            <a:avLst/>
          </a:prstGeom>
          <a:solidFill>
            <a:srgbClr val="2C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SCORE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537460"/>
            <a:ext cx="365760" cy="0"/>
          </a:xfrm>
          <a:prstGeom prst="line">
            <a:avLst/>
          </a:prstGeom>
          <a:ln w="27940">
            <a:solidFill>
              <a:srgbClr val="5A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49240" y="2537460"/>
            <a:ext cx="365760" cy="0"/>
          </a:xfrm>
          <a:prstGeom prst="line">
            <a:avLst/>
          </a:prstGeom>
          <a:ln w="27940">
            <a:solidFill>
              <a:srgbClr val="5A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18120" y="2537460"/>
            <a:ext cx="365759" cy="0"/>
          </a:xfrm>
          <a:prstGeom prst="line">
            <a:avLst/>
          </a:prstGeom>
          <a:ln w="27940">
            <a:solidFill>
              <a:srgbClr val="5A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378440" y="2148840"/>
            <a:ext cx="1371600" cy="777240"/>
          </a:xfrm>
          <a:prstGeom prst="roundRect">
            <a:avLst/>
          </a:prstGeom>
          <a:solidFill>
            <a:srgbClr val="C2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HUMAN</a:t>
            </a:r>
            <a:br/>
            <a:r>
              <a:t>APPROVAL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0" y="2537460"/>
            <a:ext cx="91440" cy="0"/>
          </a:xfrm>
          <a:prstGeom prst="line">
            <a:avLst/>
          </a:prstGeom>
          <a:ln w="27940">
            <a:solidFill>
              <a:srgbClr val="5A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2926080"/>
            <a:ext cx="0" cy="457200"/>
          </a:xfrm>
          <a:prstGeom prst="line">
            <a:avLst/>
          </a:prstGeom>
          <a:ln w="27940">
            <a:solidFill>
              <a:srgbClr val="C2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297680" y="3383280"/>
            <a:ext cx="2468880" cy="0"/>
          </a:xfrm>
          <a:prstGeom prst="line">
            <a:avLst/>
          </a:prstGeom>
          <a:ln w="27940">
            <a:solidFill>
              <a:srgbClr val="C2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297680" y="2926080"/>
            <a:ext cx="0" cy="457200"/>
          </a:xfrm>
          <a:prstGeom prst="line">
            <a:avLst/>
          </a:prstGeom>
          <a:ln w="27940">
            <a:solidFill>
              <a:srgbClr val="C2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 i="0">
                <a:solidFill>
                  <a:srgbClr val="C25A1E"/>
                </a:solidFill>
                <a:latin typeface="Calibri"/>
              </a:defRPr>
            </a:pPr>
            <a:r>
              <a:t>repair: errors fed 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2103120" cy="658368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1B2E"/>
                </a:solidFill>
                <a:latin typeface="Calibri"/>
              </a:defRPr>
            </a:pPr>
            <a:r>
              <a:t>knowledge_base/</a:t>
            </a:r>
            <a:br/>
            <a:r>
              <a:t>31 passages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828800" y="2944368"/>
            <a:ext cx="0" cy="1124712"/>
          </a:xfrm>
          <a:prstGeom prst="line">
            <a:avLst/>
          </a:prstGeom>
          <a:ln w="20320">
            <a:solidFill>
              <a:srgbClr val="5A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46120" y="4069080"/>
            <a:ext cx="2103120" cy="658368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1B2E"/>
                </a:solidFill>
                <a:latin typeface="Calibri"/>
              </a:defRPr>
            </a:pPr>
            <a:r>
              <a:t>Gemini  |  offline stub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297680" y="2944368"/>
            <a:ext cx="0" cy="1124712"/>
          </a:xfrm>
          <a:prstGeom prst="line">
            <a:avLst/>
          </a:prstGeom>
          <a:ln w="20320">
            <a:solidFill>
              <a:srgbClr val="5A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715000" y="4069080"/>
            <a:ext cx="2103120" cy="658368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1B2E"/>
                </a:solidFill>
                <a:latin typeface="Calibri"/>
              </a:defRPr>
            </a:pPr>
            <a:r>
              <a:t>Scheduler</a:t>
            </a:r>
            <a:br/>
            <a:r>
              <a:t>existing times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766560" y="2944368"/>
            <a:ext cx="0" cy="1124712"/>
          </a:xfrm>
          <a:prstGeom prst="line">
            <a:avLst/>
          </a:prstGeom>
          <a:ln w="20320">
            <a:solidFill>
              <a:srgbClr val="5A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92640" y="4069080"/>
            <a:ext cx="2103120" cy="658368"/>
          </a:xfrm>
          <a:prstGeom prst="roundRect">
            <a:avLst/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1B2E"/>
                </a:solidFill>
                <a:latin typeface="Calibri"/>
              </a:defRPr>
            </a:pPr>
            <a:r>
              <a:t>Owner → Pet → Task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064240" y="2926080"/>
            <a:ext cx="0" cy="1143000"/>
          </a:xfrm>
          <a:prstGeom prst="line">
            <a:avLst/>
          </a:prstGeom>
          <a:ln w="25400">
            <a:solidFill>
              <a:srgbClr val="1E7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50749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 i="0">
                <a:solidFill>
                  <a:srgbClr val="141B2E"/>
                </a:solidFill>
                <a:latin typeface="Calibri"/>
              </a:defRPr>
            </a:pPr>
            <a:r>
              <a:t>Two guarantees fall out of this shape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A request is grounded before it is answered, and checked after it is answered.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Nothing reaches the schedule without a person approving it — plan() and commit() are separate methods, and a test asserts plan() never mutates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Grounding answers in a real corpus — and knowing when to shut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900" b="1" i="0">
                <a:solidFill>
                  <a:srgbClr val="0E7C86"/>
                </a:solidFill>
                <a:latin typeface="Calibri"/>
              </a:defRPr>
            </a:pPr>
            <a:r>
              <a:t>How it works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Documents split on Markdown ## headings, so each chunk is one topic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TF-IDF with cosine similarity, sublinear term frequency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Headings weighted 3× — long passages were being diluted</a:t>
            </a:r>
          </a:p>
          <a:p>
            <a:pPr algn="l">
              <a:spcAft>
                <a:spcPts val="16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•  Verb stemming: “walking” must match “walk”</a:t>
            </a:r>
          </a:p>
          <a:p>
            <a:pPr algn="l">
              <a:spcAft>
                <a:spcPts val="800"/>
              </a:spcAft>
              <a:defRPr sz="1900" b="1" i="0">
                <a:solidFill>
                  <a:srgbClr val="0E7C86"/>
                </a:solidFill>
                <a:latin typeface="Calibri"/>
              </a:defRPr>
            </a:pPr>
            <a:r>
              <a:t>Why not embeddings?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5A667A"/>
                </a:solidFill>
                <a:latin typeface="Calibri"/>
              </a:defRPr>
            </a:pPr>
            <a:r>
              <a:t>Free, offline, deterministic and unit-testable, with zero heavy dependencies. The cost is real and I measured it: lexical matching misses paraphrases.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900" b="1" i="0">
                <a:solidFill>
                  <a:srgbClr val="C25A1E"/>
                </a:solidFill>
                <a:latin typeface="Calibri"/>
              </a:defRPr>
            </a:pPr>
            <a:r>
              <a:t>The domain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40280"/>
            <a:ext cx="5029200" cy="24688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Q: how often should I walk a puppy</a:t>
            </a:r>
          </a:p>
          <a:p>
            <a:pPr>
              <a:spcAft>
                <a:spcPts val="200"/>
              </a:spcAft>
              <a:defRPr sz="1200">
                <a:solidFill>
                  <a:srgbClr val="5DD39E"/>
                </a:solidFill>
                <a:latin typeface="Menlo"/>
              </a:defRPr>
            </a:pPr>
            <a:r>
              <a:t>   0.21  puppy_and_kitten_care.md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Q: is chocolate dangerous for dogs</a:t>
            </a:r>
          </a:p>
          <a:p>
            <a:pPr>
              <a:spcAft>
                <a:spcPts val="200"/>
              </a:spcAft>
              <a:defRPr sz="1200">
                <a:solidFill>
                  <a:srgbClr val="5DD39E"/>
                </a:solidFill>
                <a:latin typeface="Menlo"/>
              </a:defRPr>
            </a:pPr>
            <a:r>
              <a:t>   0.20  medication_and_safety.md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Q: how do I fix my car engine</a:t>
            </a:r>
          </a:p>
          <a:p>
            <a:pPr>
              <a:spcAft>
                <a:spcPts val="200"/>
              </a:spcAft>
              <a:defRPr sz="1200">
                <a:solidFill>
                  <a:srgbClr val="FF8A7A"/>
                </a:solidFill>
                <a:latin typeface="Menlo"/>
              </a:defRPr>
            </a:pPr>
            <a:r>
              <a:t>   (no match)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Q: what is the capital of France</a:t>
            </a:r>
          </a:p>
          <a:p>
            <a:pPr>
              <a:spcAft>
                <a:spcPts val="200"/>
              </a:spcAft>
              <a:defRPr sz="1200">
                <a:solidFill>
                  <a:srgbClr val="FF8A7A"/>
                </a:solidFill>
                <a:latin typeface="Menlo"/>
              </a:defRPr>
            </a:pPr>
            <a:r>
              <a:t>   (no match)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8463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If fewer than half a query's words exist in the corpus, it returns nothing — and the agent says so instead of guessing.</a:t>
            </a:r>
          </a:p>
          <a:p>
            <a:pPr algn="l">
              <a:spcAft>
                <a:spcPts val="800"/>
              </a:spcAft>
              <a:defRPr sz="1500" b="1" i="0">
                <a:solidFill>
                  <a:srgbClr val="C25A1E"/>
                </a:solidFill>
                <a:latin typeface="Calibri"/>
              </a:defRPr>
            </a:pPr>
            <a:r>
              <a:t>A retriever that always answers is not a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The agent checks its own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Validation failures become a correction prompt, not a crash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E7C86"/>
                </a:solidFill>
                <a:latin typeface="Calibri"/>
              </a:defRPr>
            </a:pPr>
            <a:r>
              <a:t>What the validator checks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Pet exists in the real roster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Time is zero-padded HH:MM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Frequency is once / daily / weekly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No clash with the live schedule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No clash inside the plan itself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Every citation was actually retrieved</a:t>
            </a:r>
          </a:p>
          <a:p>
            <a:pPr algn="l">
              <a:spcAft>
                <a:spcPts val="0"/>
              </a:spcAft>
              <a:defRPr sz="1500" b="1" i="0">
                <a:solidFill>
                  <a:srgbClr val="C25A1E"/>
                </a:solidFill>
                <a:latin typeface="Calibri"/>
              </a:defRPr>
            </a:pPr>
            <a:r>
              <a:t>Model output is untrusted input.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691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 i="0">
                <a:solidFill>
                  <a:srgbClr val="141B2E"/>
                </a:solidFill>
                <a:latin typeface="Calibri"/>
              </a:defRPr>
            </a:pPr>
            <a:r>
              <a:t>A real repair, under fault injection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148840"/>
            <a:ext cx="6400800" cy="23774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>
              <a:spcAft>
                <a:spcPts val="200"/>
              </a:spcAft>
              <a:defRPr sz="1250">
                <a:solidFill>
                  <a:srgbClr val="FF8A7A"/>
                </a:solidFill>
                <a:latin typeface="Menlo"/>
              </a:defRPr>
            </a:pPr>
            <a:r>
              <a:t>[validate] 0 accepted, 1 issue</a:t>
            </a:r>
          </a:p>
          <a:p>
            <a:pPr>
              <a:spcAft>
                <a:spcPts val="200"/>
              </a:spcAft>
              <a:defRPr sz="1250">
                <a:solidFill>
                  <a:srgbClr val="8A97AD"/>
                </a:solidFill>
                <a:latin typeface="Menlo"/>
              </a:defRPr>
            </a:pPr>
            <a:r>
              <a:t>           pet "Rex" unknown; time "8am" invalid</a:t>
            </a:r>
          </a:p>
          <a:p>
            <a:pPr>
              <a:spcAft>
                <a:spcPts val="200"/>
              </a:spcAft>
              <a:defRPr sz="1250">
                <a:solidFill>
                  <a:srgbClr val="F2C160"/>
                </a:solidFill>
                <a:latin typeface="Menlo"/>
              </a:defRPr>
            </a:pPr>
            <a:r>
              <a:t>[repair]   Attempt 1 rejected → re-prompt</a:t>
            </a:r>
          </a:p>
          <a:p>
            <a:pPr>
              <a:spcAft>
                <a:spcPts val="200"/>
              </a:spcAft>
              <a:defRPr sz="1250">
                <a:solidFill>
                  <a:srgbClr val="FF8A7A"/>
                </a:solidFill>
                <a:latin typeface="Menlo"/>
              </a:defRPr>
            </a:pPr>
            <a:r>
              <a:t>[validate] 0 accepted, 1 issue</a:t>
            </a:r>
          </a:p>
          <a:p>
            <a:pPr>
              <a:spcAft>
                <a:spcPts val="200"/>
              </a:spcAft>
              <a:defRPr sz="1250">
                <a:solidFill>
                  <a:srgbClr val="8A97AD"/>
                </a:solidFill>
                <a:latin typeface="Menlo"/>
              </a:defRPr>
            </a:pPr>
            <a:r>
              <a:t>           11:00 collides with vet checkup</a:t>
            </a:r>
          </a:p>
          <a:p>
            <a:pPr>
              <a:spcAft>
                <a:spcPts val="200"/>
              </a:spcAft>
              <a:defRPr sz="1250">
                <a:solidFill>
                  <a:srgbClr val="F2C160"/>
                </a:solidFill>
                <a:latin typeface="Menlo"/>
              </a:defRPr>
            </a:pPr>
            <a:r>
              <a:t>[repair]   Attempt 2 rejected → re-prompt</a:t>
            </a:r>
          </a:p>
          <a:p>
            <a:pPr>
              <a:spcAft>
                <a:spcPts val="200"/>
              </a:spcAft>
              <a:defRPr sz="1250">
                <a:solidFill>
                  <a:srgbClr val="5DD39E"/>
                </a:solidFill>
                <a:latin typeface="Menlo"/>
              </a:defRPr>
            </a:pPr>
            <a:r>
              <a:t>[validate] 1 accepted, 0 issues</a:t>
            </a:r>
          </a:p>
          <a:p>
            <a:pPr>
              <a:spcAft>
                <a:spcPts val="200"/>
              </a:spcAft>
              <a:defRPr sz="1250">
                <a:solidFill>
                  <a:srgbClr val="5DD39E"/>
                </a:solidFill>
                <a:latin typeface="Menlo"/>
              </a:defRPr>
            </a:pPr>
            <a:r>
              <a:t>[propose]  confidence 0.54, repairs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470916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Confidence fell from the model's self-reported 0.90 to 0.54: two repairs at 20% each, plus a discount for citing nothing.</a:t>
            </a:r>
          </a:p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The repair budget is bounded, so bad output cannot loop forever — and a test proves it stops.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Live output — gemini-3.6-flash, free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 i="1">
                <a:solidFill>
                  <a:srgbClr val="141B2E"/>
                </a:solidFill>
                <a:latin typeface="Calibri"/>
              </a:defRPr>
            </a:pPr>
            <a:r>
              <a:t>Request:  “Biscuit is a 9-month-old puppy and Mochi is an adult indoor cat. I work 09:00 to 17:00. Plan a realistic day.”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7040880" cy="32918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>
              <a:spcAft>
                <a:spcPts val="200"/>
              </a:spcAft>
              <a:defRPr sz="1200">
                <a:solidFill>
                  <a:srgbClr val="5DD39E"/>
                </a:solidFill>
                <a:latin typeface="Menlo"/>
              </a:defRPr>
            </a:pPr>
            <a:r>
              <a:t>Confidence: 0.85   Repairs: 0   Mode: live model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07:30  Morning walk and toilet break    Biscuit   [daily]</a:t>
            </a:r>
          </a:p>
          <a:p>
            <a:pPr>
              <a:spcAft>
                <a:spcPts val="200"/>
              </a:spcAft>
              <a:defRPr sz="1200">
                <a:solidFill>
                  <a:srgbClr val="8A97AD"/>
                </a:solidFill>
                <a:latin typeface="Menlo"/>
              </a:defRPr>
            </a:pPr>
            <a:r>
              <a:t>       source: puppy_and_kitten_care.md#puppy-exercise-limits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08:00  Morning meal                     Biscuit   [daily]</a:t>
            </a:r>
          </a:p>
          <a:p>
            <a:pPr>
              <a:spcAft>
                <a:spcPts val="200"/>
              </a:spcAft>
              <a:defRPr sz="1200">
                <a:solidFill>
                  <a:srgbClr val="8A97AD"/>
                </a:solidFill>
                <a:latin typeface="Menlo"/>
              </a:defRPr>
            </a:pPr>
            <a:r>
              <a:t>       source: puppy_and_kitten_care.md#puppy-feeding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08:15  Morning meal and fresh water     Mochi     [daily]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17:30  Evening walk and toilet break    Biscuit   [daily]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18:00  Evening meal                     Biscuit   [daily]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  <a:r>
              <a:t>18:30  Evening meal and play session    Mochi     [daily]</a:t>
            </a:r>
          </a:p>
          <a:p>
            <a:pPr>
              <a:spcAft>
                <a:spcPts val="200"/>
              </a:spcAft>
              <a:defRPr sz="1200">
                <a:solidFill>
                  <a:srgbClr val="E6ECF5"/>
                </a:solidFill>
                <a:latin typeface="Menl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F2C160"/>
                </a:solidFill>
                <a:latin typeface="Menlo"/>
              </a:defRPr>
            </a:pPr>
            <a:r>
              <a:t>Caveat: verify whether a mid-day dog walker is needed while</a:t>
            </a:r>
          </a:p>
          <a:p>
            <a:pPr>
              <a:spcAft>
                <a:spcPts val="200"/>
              </a:spcAft>
              <a:defRPr sz="1200">
                <a:solidFill>
                  <a:srgbClr val="F2C160"/>
                </a:solidFill>
                <a:latin typeface="Menlo"/>
              </a:defRPr>
            </a:pPr>
            <a:r>
              <a:t>        you are at work from 09:00 to 17:00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1488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 i="0">
                <a:solidFill>
                  <a:srgbClr val="0E7C86"/>
                </a:solidFill>
                <a:latin typeface="Calibri"/>
              </a:defRPr>
            </a:pPr>
            <a:r>
              <a:t>What to notice</a:t>
            </a:r>
          </a:p>
          <a:p>
            <a:pPr algn="l">
              <a:spcAft>
                <a:spcPts val="12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It routed around a vet appointment already booked at 11:00.</a:t>
            </a:r>
          </a:p>
          <a:p>
            <a:pPr algn="l">
              <a:spcAft>
                <a:spcPts val="12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It cited the passages it used — and every citation was checked against what was actually retrieved.</a:t>
            </a:r>
          </a:p>
          <a:p>
            <a:pPr algn="l">
              <a:spcAft>
                <a:spcPts val="12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Rather than inventing a midday walk it couldn't guarantee, it raised the gap as a caveat.</a:t>
            </a:r>
          </a:p>
          <a:p>
            <a:pPr algn="l">
              <a:spcAft>
                <a:spcPts val="800"/>
              </a:spcAft>
              <a:defRPr sz="1400" b="1" i="0">
                <a:solidFill>
                  <a:srgbClr val="C25A1E"/>
                </a:solidFill>
                <a:latin typeface="Calibri"/>
              </a:defRPr>
            </a:pPr>
            <a:r>
              <a:t>The owner is out for 8 hours. The corpus says that's too long for a puppy. It noticed.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Proving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python evaluate.py — 25 predefined cases, three suites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070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713232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Suite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proves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12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Right document in top-3, and out-of-domain returns nothing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Each guardrail rejects its specific failure category</a:t>
                      </a:r>
                    </a:p>
                  </a:txBody>
                  <a:tcPr>
                    <a:solidFill>
                      <a:srgbClr val="EFF3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3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1B2E"/>
                          </a:solidFill>
                          <a:latin typeface="Calibri"/>
                        </a:defRPr>
                      </a:pPr>
                      <a:r>
                        <a:t>Valid times, real pets, conflict-free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749039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E7C86"/>
                </a:solidFill>
                <a:latin typeface="Calibri"/>
              </a:defRPr>
            </a:pPr>
            <a:r>
              <a:t>Live vs offline baseline</a:t>
            </a:r>
          </a:p>
          <a:p>
            <a:pPr algn="l">
              <a:spcAft>
                <a:spcPts val="8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Live  (gemini-3.6-flash)      25/25    confidence 0.50</a:t>
            </a:r>
          </a:p>
          <a:p>
            <a:pPr algn="l">
              <a:spcAft>
                <a:spcPts val="1400"/>
              </a:spcAft>
              <a:defRPr sz="1500" b="0" i="0">
                <a:solidFill>
                  <a:srgbClr val="141B2E"/>
                </a:solidFill>
                <a:latin typeface="Calibri"/>
              </a:defRPr>
            </a:pPr>
            <a:r>
              <a:t>Offline deterministic stub    25/25    confidence 0.36</a:t>
            </a:r>
          </a:p>
          <a:p>
            <a:pPr algn="l">
              <a:spcAft>
                <a:spcPts val="800"/>
              </a:spcAft>
              <a:defRPr sz="1500" b="1" i="0">
                <a:solidFill>
                  <a:srgbClr val="141B2E"/>
                </a:solidFill>
                <a:latin typeface="Calibri"/>
              </a:defRPr>
            </a:pPr>
            <a:r>
              <a:t>62 / 62 unit tests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749039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C25A1E"/>
                </a:solidFill>
                <a:latin typeface="Calibri"/>
              </a:defRPr>
            </a:pPr>
            <a:r>
              <a:t>The uncomfortable finding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The dumb offline fallback also scores 25/25 — because the planning cases test internal consistency, and fixed routines are trivially consistent while ignoring the request entirely.</a:t>
            </a:r>
          </a:p>
          <a:p>
            <a:pPr algn="l">
              <a:spcAft>
                <a:spcPts val="800"/>
              </a:spcAft>
              <a:defRPr sz="1500" b="1" i="0">
                <a:solidFill>
                  <a:srgbClr val="C25A1E"/>
                </a:solidFill>
                <a:latin typeface="Calibri"/>
              </a:defRPr>
            </a:pPr>
            <a:r>
              <a:t>A test a dumb baseline passes isn't measuring intelligence.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The bug that only appeared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62 offline tests passed. The first real API call failed.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76072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>
              <a:spcAft>
                <a:spcPts val="200"/>
              </a:spcAft>
              <a:defRPr sz="1250">
                <a:solidFill>
                  <a:srgbClr val="FF8A7A"/>
                </a:solidFill>
                <a:latin typeface="Menlo"/>
              </a:defRPr>
            </a:pPr>
            <a:r>
              <a:t>[validate] Unparseable output: No JSON object found</a:t>
            </a:r>
          </a:p>
          <a:p>
            <a:pPr>
              <a:spcAft>
                <a:spcPts val="200"/>
              </a:spcAft>
              <a:defRPr sz="1250">
                <a:solidFill>
                  <a:srgbClr val="F2C160"/>
                </a:solidFill>
                <a:latin typeface="Menlo"/>
              </a:defRPr>
            </a:pPr>
            <a:r>
              <a:t>[repair]   Attempt 1 rejected</a:t>
            </a:r>
          </a:p>
          <a:p>
            <a:pPr>
              <a:spcAft>
                <a:spcPts val="200"/>
              </a:spcAft>
              <a:defRPr sz="1250">
                <a:solidFill>
                  <a:srgbClr val="FF8A7A"/>
                </a:solidFill>
                <a:latin typeface="Menlo"/>
              </a:defRPr>
            </a:pPr>
            <a:r>
              <a:t>[validate] Unparseable output: Malformed JSON</a:t>
            </a:r>
          </a:p>
          <a:p>
            <a:pPr>
              <a:spcAft>
                <a:spcPts val="200"/>
              </a:spcAft>
              <a:defRPr sz="1250">
                <a:solidFill>
                  <a:srgbClr val="F2C160"/>
                </a:solidFill>
                <a:latin typeface="Menlo"/>
              </a:defRPr>
            </a:pPr>
            <a:r>
              <a:t>[repair]   Attempt 2 rejected</a:t>
            </a:r>
          </a:p>
          <a:p>
            <a:pPr>
              <a:spcAft>
                <a:spcPts val="200"/>
              </a:spcAft>
              <a:defRPr sz="1250">
                <a:solidFill>
                  <a:srgbClr val="FF8A7A"/>
                </a:solidFill>
                <a:latin typeface="Menlo"/>
              </a:defRPr>
            </a:pPr>
            <a:r>
              <a:t>[validate] Unparseable output: Malformed JSON</a:t>
            </a:r>
          </a:p>
          <a:p>
            <a:pPr>
              <a:spcAft>
                <a:spcPts val="200"/>
              </a:spcAft>
              <a:defRPr sz="1250">
                <a:solidFill>
                  <a:srgbClr val="FF8A7A"/>
                </a:solidFill>
                <a:latin typeface="Menlo"/>
              </a:defRPr>
            </a:pPr>
            <a:r>
              <a:t>[abort]    No valid tasks survived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 i="0">
                <a:solidFill>
                  <a:srgbClr val="C25A1E"/>
                </a:solidFill>
                <a:latin typeface="Calibri"/>
              </a:defRPr>
            </a:pPr>
            <a:r>
              <a:t>The JSON was not malformed.</a:t>
            </a:r>
          </a:p>
          <a:p>
            <a:pPr algn="l">
              <a:spcAft>
                <a:spcPts val="1200"/>
              </a:spcAft>
              <a:defRPr sz="1500" b="0" i="0">
                <a:solidFill>
                  <a:srgbClr val="5A667A"/>
                </a:solidFill>
                <a:latin typeface="Calibri"/>
              </a:defRPr>
            </a:pPr>
            <a:r>
              <a:t>It was well-formed and simply stopped. The output was truncated mid-object.</a:t>
            </a:r>
          </a:p>
          <a:p>
            <a:pPr algn="l">
              <a:spcAft>
                <a:spcPts val="800"/>
              </a:spcAft>
              <a:defRPr sz="1500" b="1" i="0">
                <a:solidFill>
                  <a:srgbClr val="141B2E"/>
                </a:solidFill>
                <a:latin typeface="Menlo"/>
              </a:defRPr>
            </a:pPr>
            <a:r>
              <a:t>thoughtsTokenCount: 856</a:t>
            </a:r>
          </a:p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Gemini 3.x reasons before answering, and those hidden tokens are billed against the same output budget. My 2048-token cap left no room for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 i="0">
                <a:solidFill>
                  <a:srgbClr val="1E7A4B"/>
                </a:solidFill>
                <a:latin typeface="Calibri"/>
              </a:defRPr>
            </a:pPr>
            <a:r>
              <a:t>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1.  maxOutputTokens 2048 → 8192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2.  thinkingLevel: low — also cut latency 8.8s → 6.4s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3.  Detect finishReason: MAX_TOKENS and report truncation AS truncation, with its own repair instruction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572000"/>
            <a:ext cx="4480560" cy="1600200"/>
          </a:xfrm>
          <a:prstGeom prst="round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41B2E"/>
                </a:solidFill>
                <a:latin typeface="Calibri"/>
              </a:defRPr>
            </a:pPr>
            <a:r>
              <a:t>Mocked providers never run out of tokens.</a:t>
            </a:r>
            <a:br/>
            <a:br/>
            <a:r>
              <a:t>Some bugs live only at the real boundary —</a:t>
            </a:r>
            <a:br/>
            <a:r>
              <a:t>and this error pointed at the wrong layer.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Limitations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What I chose to document rather than hide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C25A1E"/>
                </a:solidFill>
                <a:latin typeface="Calibri"/>
              </a:defRPr>
            </a:pPr>
            <a:r>
              <a:t>Known limits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The corpus is the ceiling. Guardrails check structure, never whether the advice is medically sound.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Dogs and cats only. Any other species falls back to two vague tasks.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Cultural bias: assumes UK/US conventions and a predictable 9-to-5 day.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Lexical retrieval misses paraphrases. “Waking me at 4am” fails where “waking me at night” succeeds.</a:t>
            </a:r>
          </a:p>
          <a:p>
            <a:pPr algn="l">
              <a:spcAft>
                <a:spcPts val="800"/>
              </a:spcAft>
              <a:defRPr sz="1400" b="0" i="0">
                <a:solidFill>
                  <a:srgbClr val="141B2E"/>
                </a:solidFill>
                <a:latin typeface="Calibri"/>
              </a:defRPr>
            </a:pPr>
            <a:r>
              <a:t>•  Confidence is a heuristic, not a probability.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E7C86"/>
                </a:solidFill>
                <a:latin typeface="Calibri"/>
              </a:defRPr>
            </a:pPr>
            <a:r>
              <a:t>Misuse and mitigation</a:t>
            </a:r>
          </a:p>
          <a:p>
            <a:pPr algn="l">
              <a:spcAft>
                <a:spcPts val="400"/>
              </a:spcAft>
              <a:defRPr sz="1500" b="1" i="0">
                <a:solidFill>
                  <a:srgbClr val="141B2E"/>
                </a:solidFill>
                <a:latin typeface="Calibri"/>
              </a:defRPr>
            </a:pPr>
            <a:r>
              <a:t>Risk — mistaken for veterinary advice.</a:t>
            </a:r>
          </a:p>
          <a:p>
            <a:pPr algn="l">
              <a:spcAft>
                <a:spcPts val="12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Prompts forbid dosage and diagnosis; no grounding means refusal; the corpus carries an explicit scope disclaimer.</a:t>
            </a:r>
          </a:p>
          <a:p>
            <a:pPr algn="l">
              <a:spcAft>
                <a:spcPts val="400"/>
              </a:spcAft>
              <a:defRPr sz="1500" b="1" i="0">
                <a:solidFill>
                  <a:srgbClr val="141B2E"/>
                </a:solidFill>
                <a:latin typeface="Calibri"/>
              </a:defRPr>
            </a:pPr>
            <a:r>
              <a:t>Risk — over-trusted for medication timing.</a:t>
            </a:r>
          </a:p>
          <a:p>
            <a:pPr algn="l">
              <a:spcAft>
                <a:spcPts val="12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Human approval is required before any task is scheduled. Confidence and sources sit next to the plan, not buried.</a:t>
            </a:r>
          </a:p>
          <a:p>
            <a:pPr algn="l">
              <a:spcAft>
                <a:spcPts val="400"/>
              </a:spcAft>
              <a:defRPr sz="1500" b="1" i="0">
                <a:solidFill>
                  <a:srgbClr val="141B2E"/>
                </a:solidFill>
                <a:latin typeface="Calibri"/>
              </a:defRPr>
            </a:pPr>
            <a:r>
              <a:t>Risk — automation creep.</a:t>
            </a:r>
          </a:p>
          <a:p>
            <a:pPr algn="l">
              <a:spcAft>
                <a:spcPts val="800"/>
              </a:spcAft>
              <a:defRPr sz="1400" b="0" i="0">
                <a:solidFill>
                  <a:srgbClr val="5A667A"/>
                </a:solidFill>
                <a:latin typeface="Calibri"/>
              </a:defRPr>
            </a:pPr>
            <a:r>
              <a:t>The likeliest future harm is someone removing the approval step for convenience. It is load-bearing by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141B2E"/>
                </a:solidFill>
                <a:latin typeface="Calibri"/>
              </a:defRPr>
            </a:pPr>
            <a: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 i="0">
                <a:solidFill>
                  <a:srgbClr val="0E7C86"/>
                </a:solidFill>
                <a:latin typeface="Calibri"/>
              </a:defRPr>
            </a:pPr>
            <a:r>
              <a:t>In an AI system, the model is the easy part.</a:t>
            </a:r>
          </a:p>
          <a:p>
            <a:pPr algn="l">
              <a:spcAft>
                <a:spcPts val="800"/>
              </a:spcAft>
              <a:defRPr sz="1700" b="0" i="0">
                <a:solidFill>
                  <a:srgbClr val="5A667A"/>
                </a:solidFill>
                <a:latin typeface="Calibri"/>
              </a:defRPr>
            </a:pPr>
            <a:r>
              <a:t>Wiring up Gemini took an afternoon. What took real work was everything defending against it.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127248"/>
            <a:ext cx="182880" cy="182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141B2E"/>
                </a:solidFill>
                <a:latin typeface="Calibri"/>
              </a:defRPr>
            </a:pPr>
            <a:r>
              <a:t>Define “wrong” precisely enough to check automatically</a:t>
            </a:r>
          </a:p>
          <a:p>
            <a:pPr algn="l">
              <a:spcAft>
                <a:spcPts val="800"/>
              </a:spcAft>
              <a:defRPr sz="1350" b="0" i="0">
                <a:solidFill>
                  <a:srgbClr val="5A667A"/>
                </a:solidFill>
                <a:latin typeface="Calibri"/>
              </a:defRPr>
            </a:pPr>
            <a:r>
              <a:t>Every guardrail started as a sentence about what a bad plan looks like.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95928"/>
            <a:ext cx="182880" cy="182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141B2E"/>
                </a:solidFill>
                <a:latin typeface="Calibri"/>
              </a:defRPr>
            </a:pPr>
            <a:r>
              <a:t>Quality has to be measured, not felt</a:t>
            </a:r>
          </a:p>
          <a:p>
            <a:pPr algn="l">
              <a:spcAft>
                <a:spcPts val="800"/>
              </a:spcAft>
              <a:defRPr sz="1350" b="0" i="0">
                <a:solidFill>
                  <a:srgbClr val="5A667A"/>
                </a:solidFill>
                <a:latin typeface="Calibri"/>
              </a:defRPr>
            </a:pPr>
            <a:r>
              <a:t>My retrieval bug never threw an exception. It quietly returned senior-dog advice for a puppy question, and only showed up when I printed real scores.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864608"/>
            <a:ext cx="182880" cy="182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141B2E"/>
                </a:solidFill>
                <a:latin typeface="Calibri"/>
              </a:defRPr>
            </a:pPr>
            <a:r>
              <a:t>Test the boundary you actually ship against</a:t>
            </a:r>
          </a:p>
          <a:p>
            <a:pPr algn="l">
              <a:spcAft>
                <a:spcPts val="800"/>
              </a:spcAft>
              <a:defRPr sz="1350" b="0" i="0">
                <a:solidFill>
                  <a:srgbClr val="5A667A"/>
                </a:solidFill>
                <a:latin typeface="Calibri"/>
              </a:defRPr>
            </a:pPr>
            <a:r>
              <a:t>62 passing tests told me nothing about the token budget that broke the first live run.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733288"/>
            <a:ext cx="182880" cy="182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5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141B2E"/>
                </a:solidFill>
                <a:latin typeface="Calibri"/>
              </a:defRPr>
            </a:pPr>
            <a:r>
              <a:t>Decide where a human stays in the loop — and defend it</a:t>
            </a:r>
          </a:p>
          <a:p>
            <a:pPr algn="l">
              <a:spcAft>
                <a:spcPts val="800"/>
              </a:spcAft>
              <a:defRPr sz="1350" b="0" i="0">
                <a:solidFill>
                  <a:srgbClr val="5A667A"/>
                </a:solidFill>
                <a:latin typeface="Calibri"/>
              </a:defRPr>
            </a:pPr>
            <a:r>
              <a:t>Separating plan() from commit() is the single most important design decision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Try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7498079" cy="2286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>
              <a:spcAft>
                <a:spcPts val="200"/>
              </a:spcAft>
              <a:defRPr sz="1300">
                <a:solidFill>
                  <a:srgbClr val="E6ECF5"/>
                </a:solidFill>
                <a:latin typeface="Menlo"/>
              </a:defRPr>
            </a:pPr>
            <a:r>
              <a:t>git clone https://github.com/Lakshya751/applied-ai-system-project.git</a:t>
            </a:r>
          </a:p>
          <a:p>
            <a:pPr>
              <a:spcAft>
                <a:spcPts val="200"/>
              </a:spcAft>
              <a:defRPr sz="1300">
                <a:solidFill>
                  <a:srgbClr val="E6ECF5"/>
                </a:solidFill>
                <a:latin typeface="Menlo"/>
              </a:defRPr>
            </a:pPr>
            <a:r>
              <a:t>pip install -r requirements.txt</a:t>
            </a:r>
          </a:p>
          <a:p>
            <a:pPr>
              <a:spcAft>
                <a:spcPts val="200"/>
              </a:spcAft>
              <a:defRPr sz="1300">
                <a:solidFill>
                  <a:srgbClr val="8A97AD"/>
                </a:solidFill>
                <a:latin typeface="Menlo"/>
              </a:defRPr>
            </a:pPr>
            <a:r>
              <a:t>cp .env.example .env      # free key: aistudio.google.com</a:t>
            </a:r>
          </a:p>
          <a:p>
            <a:pPr>
              <a:spcAft>
                <a:spcPts val="200"/>
              </a:spcAft>
              <a:defRPr sz="1300">
                <a:solidFill>
                  <a:srgbClr val="E6ECF5"/>
                </a:solidFill>
                <a:latin typeface="Menl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5DD39E"/>
                </a:solidFill>
                <a:latin typeface="Menlo"/>
              </a:defRPr>
            </a:pPr>
            <a:r>
              <a:t>python check_setup.py     # verify deps, corpus, model</a:t>
            </a:r>
          </a:p>
          <a:p>
            <a:pPr>
              <a:spcAft>
                <a:spcPts val="200"/>
              </a:spcAft>
              <a:defRPr sz="1300">
                <a:solidFill>
                  <a:srgbClr val="5DD39E"/>
                </a:solidFill>
                <a:latin typeface="Menlo"/>
              </a:defRPr>
            </a:pPr>
            <a:r>
              <a:t>python demo_ai.py         # three-scenario walkthrough</a:t>
            </a:r>
          </a:p>
          <a:p>
            <a:pPr>
              <a:spcAft>
                <a:spcPts val="200"/>
              </a:spcAft>
              <a:defRPr sz="1300">
                <a:solidFill>
                  <a:srgbClr val="5DD39E"/>
                </a:solidFill>
                <a:latin typeface="Menlo"/>
              </a:defRPr>
            </a:pPr>
            <a:r>
              <a:t>python evaluate.py        # 25-case evaluation harness</a:t>
            </a:r>
          </a:p>
          <a:p>
            <a:pPr>
              <a:spcAft>
                <a:spcPts val="200"/>
              </a:spcAft>
              <a:defRPr sz="1300">
                <a:solidFill>
                  <a:srgbClr val="5DD39E"/>
                </a:solidFill>
                <a:latin typeface="Menlo"/>
              </a:defRPr>
            </a:pPr>
            <a:r>
              <a:t>streamlit run app.py      #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060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 i="0">
                <a:solidFill>
                  <a:srgbClr val="C9D6E6"/>
                </a:solidFill>
                <a:latin typeface="Calibri"/>
              </a:defRPr>
            </a:pPr>
            <a:r>
              <a:t>Runs with no API key at all —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C9D6E6"/>
                </a:solidFill>
                <a:latin typeface="Calibri"/>
              </a:defRPr>
            </a:pPr>
            <a:r>
              <a:t>it degrades to a deterministic offline planner and says 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0E7C86"/>
                </a:solidFill>
                <a:latin typeface="Calibri"/>
              </a:defRPr>
            </a:pPr>
            <a:r>
              <a:t>README.md  ·  model_card.md  ·  ai_interactions.md  ·  diagrams/architecture.mmd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